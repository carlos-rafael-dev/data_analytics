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1C06"/>
    <a:srgbClr val="D8BAA8"/>
    <a:srgbClr val="CCA68E"/>
    <a:srgbClr val="AD734E"/>
    <a:srgbClr val="DCD294"/>
    <a:srgbClr val="F5EBE2"/>
    <a:srgbClr val="D123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231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9525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082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410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0264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7346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4219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0487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7690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1953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60D5A-9BAF-443B-B363-3F53CF9711D4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4879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60D5A-9BAF-443B-B363-3F53CF9711D4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16B3E0-36CB-4B7F-9C79-E8BD69D02E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334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de cantos arredondados 4"/>
          <p:cNvSpPr/>
          <p:nvPr/>
        </p:nvSpPr>
        <p:spPr>
          <a:xfrm>
            <a:off x="1379913" y="0"/>
            <a:ext cx="10812087" cy="673097"/>
          </a:xfrm>
          <a:prstGeom prst="roundRect">
            <a:avLst>
              <a:gd name="adj" fmla="val 0"/>
            </a:avLst>
          </a:prstGeom>
          <a:solidFill>
            <a:srgbClr val="451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000" dirty="0" smtClean="0">
                <a:solidFill>
                  <a:srgbClr val="DCD294"/>
                </a:solidFill>
                <a:latin typeface="Elephant" panose="02020904090505020303" pitchFamily="18" charset="0"/>
              </a:rPr>
              <a:t>            DASHBOARD </a:t>
            </a:r>
            <a:r>
              <a:rPr lang="pt-BR" sz="2000" dirty="0">
                <a:solidFill>
                  <a:srgbClr val="DCD294"/>
                </a:solidFill>
                <a:latin typeface="Elephant" panose="02020904090505020303" pitchFamily="18" charset="0"/>
              </a:rPr>
              <a:t>MAVEN ROASTERS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-431646" y="0"/>
            <a:ext cx="2302780" cy="6858000"/>
          </a:xfrm>
          <a:prstGeom prst="roundRect">
            <a:avLst>
              <a:gd name="adj" fmla="val 17771"/>
            </a:avLst>
          </a:prstGeom>
          <a:solidFill>
            <a:srgbClr val="F5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de cantos arredondados 5"/>
          <p:cNvSpPr/>
          <p:nvPr/>
        </p:nvSpPr>
        <p:spPr>
          <a:xfrm>
            <a:off x="2167467" y="846662"/>
            <a:ext cx="2252134" cy="812797"/>
          </a:xfrm>
          <a:prstGeom prst="roundRect">
            <a:avLst>
              <a:gd name="adj" fmla="val 25781"/>
            </a:avLst>
          </a:prstGeom>
          <a:solidFill>
            <a:srgbClr val="451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de cantos arredondados 6"/>
          <p:cNvSpPr/>
          <p:nvPr/>
        </p:nvSpPr>
        <p:spPr>
          <a:xfrm>
            <a:off x="2167467" y="1866897"/>
            <a:ext cx="2252134" cy="812797"/>
          </a:xfrm>
          <a:prstGeom prst="roundRect">
            <a:avLst>
              <a:gd name="adj" fmla="val 24609"/>
            </a:avLst>
          </a:prstGeom>
          <a:gradFill>
            <a:gsLst>
              <a:gs pos="100000">
                <a:srgbClr val="F5EBE2"/>
              </a:gs>
              <a:gs pos="50000">
                <a:srgbClr val="DCD29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de cantos arredondados 7"/>
          <p:cNvSpPr/>
          <p:nvPr/>
        </p:nvSpPr>
        <p:spPr>
          <a:xfrm>
            <a:off x="2167467" y="2887132"/>
            <a:ext cx="2252134" cy="821265"/>
          </a:xfrm>
          <a:prstGeom prst="roundRect">
            <a:avLst>
              <a:gd name="adj" fmla="val 19717"/>
            </a:avLst>
          </a:prstGeom>
          <a:gradFill>
            <a:gsLst>
              <a:gs pos="100000">
                <a:srgbClr val="F5EBE2"/>
              </a:gs>
              <a:gs pos="50000">
                <a:srgbClr val="DCD29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de cantos arredondados 8"/>
          <p:cNvSpPr/>
          <p:nvPr/>
        </p:nvSpPr>
        <p:spPr>
          <a:xfrm>
            <a:off x="4665134" y="846663"/>
            <a:ext cx="3428999" cy="2861735"/>
          </a:xfrm>
          <a:prstGeom prst="roundRect">
            <a:avLst>
              <a:gd name="adj" fmla="val 3462"/>
            </a:avLst>
          </a:prstGeom>
          <a:gradFill flip="none" rotWithShape="1">
            <a:gsLst>
              <a:gs pos="0">
                <a:srgbClr val="D8BAA8"/>
              </a:gs>
              <a:gs pos="100000">
                <a:srgbClr val="F5EBE2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effectLst/>
            </a:endParaRPr>
          </a:p>
        </p:txBody>
      </p:sp>
      <p:sp>
        <p:nvSpPr>
          <p:cNvPr id="10" name="Retângulo de cantos arredondados 9"/>
          <p:cNvSpPr/>
          <p:nvPr/>
        </p:nvSpPr>
        <p:spPr>
          <a:xfrm>
            <a:off x="8339666" y="846662"/>
            <a:ext cx="3505199" cy="2861735"/>
          </a:xfrm>
          <a:prstGeom prst="roundRect">
            <a:avLst>
              <a:gd name="adj" fmla="val 2757"/>
            </a:avLst>
          </a:prstGeom>
          <a:gradFill flip="none" rotWithShape="1">
            <a:gsLst>
              <a:gs pos="0">
                <a:srgbClr val="D8BAA8"/>
              </a:gs>
              <a:gs pos="100000">
                <a:srgbClr val="F5EBE2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2167467" y="3996267"/>
            <a:ext cx="5926666" cy="2713565"/>
          </a:xfrm>
          <a:prstGeom prst="roundRect">
            <a:avLst>
              <a:gd name="adj" fmla="val 3932"/>
            </a:avLst>
          </a:prstGeom>
          <a:gradFill flip="none" rotWithShape="1">
            <a:gsLst>
              <a:gs pos="0">
                <a:srgbClr val="D8BAA8"/>
              </a:gs>
              <a:gs pos="100000">
                <a:srgbClr val="F5EBE2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     </a:t>
            </a: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8339665" y="3996267"/>
            <a:ext cx="3505199" cy="2713565"/>
          </a:xfrm>
          <a:prstGeom prst="roundRect">
            <a:avLst>
              <a:gd name="adj" fmla="val 2647"/>
            </a:avLst>
          </a:prstGeom>
          <a:gradFill flip="none" rotWithShape="1">
            <a:gsLst>
              <a:gs pos="0">
                <a:srgbClr val="D8BAA8"/>
              </a:gs>
              <a:gs pos="100000">
                <a:srgbClr val="F5EBE2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2626361" y="864377"/>
            <a:ext cx="1648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Receita Total</a:t>
            </a:r>
            <a:endParaRPr lang="pt-BR" sz="16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2675468" y="1903963"/>
            <a:ext cx="1439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solidFill>
                  <a:srgbClr val="451C06"/>
                </a:solidFill>
                <a:latin typeface="Bahnschrift" panose="020B0502040204020203" pitchFamily="34" charset="0"/>
              </a:rPr>
              <a:t>Transições</a:t>
            </a:r>
            <a:endParaRPr lang="pt-BR" sz="1600" dirty="0">
              <a:solidFill>
                <a:srgbClr val="451C06"/>
              </a:solidFill>
              <a:latin typeface="Bahnschrift" panose="020B0502040204020203" pitchFamily="34" charset="0"/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2626361" y="2913918"/>
            <a:ext cx="1488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solidFill>
                  <a:srgbClr val="451C06"/>
                </a:solidFill>
                <a:latin typeface="Bahnschrift" panose="020B0502040204020203" pitchFamily="34" charset="0"/>
              </a:rPr>
              <a:t> Ticket Médio</a:t>
            </a:r>
            <a:endParaRPr lang="pt-BR" sz="1600" dirty="0">
              <a:solidFill>
                <a:srgbClr val="451C06"/>
              </a:solidFill>
              <a:latin typeface="Bahnschrift" panose="020B0502040204020203" pitchFamily="34" charset="0"/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4747402" y="876168"/>
            <a:ext cx="1957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451C06"/>
                </a:solidFill>
                <a:latin typeface="Bahnschrift" panose="020B0502040204020203" pitchFamily="34" charset="0"/>
              </a:rPr>
              <a:t>Receita por Loja</a:t>
            </a:r>
            <a:endParaRPr lang="pt-BR" sz="1400" dirty="0">
              <a:solidFill>
                <a:srgbClr val="451C06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8391366" y="907122"/>
            <a:ext cx="35241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451C06"/>
                </a:solidFill>
                <a:latin typeface="Bahnschrift" panose="020B0502040204020203" pitchFamily="34" charset="0"/>
              </a:rPr>
              <a:t>Categoria mais vendida – Café Campeão</a:t>
            </a:r>
            <a:endParaRPr lang="pt-BR" sz="1400" dirty="0">
              <a:solidFill>
                <a:srgbClr val="451C06"/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2305786" y="4032354"/>
            <a:ext cx="5344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451C06"/>
                </a:solidFill>
                <a:latin typeface="Bahnschrift" panose="020B0502040204020203" pitchFamily="34" charset="0"/>
              </a:rPr>
              <a:t>Receita por Mês – Crescimento Constante no 1° Semestre</a:t>
            </a:r>
            <a:endParaRPr lang="pt-BR" sz="1400" dirty="0">
              <a:solidFill>
                <a:srgbClr val="451C06"/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8390466" y="4019426"/>
            <a:ext cx="30794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451C06"/>
                </a:solidFill>
                <a:latin typeface="Bahnschrift" panose="020B0502040204020203" pitchFamily="34" charset="0"/>
              </a:rPr>
              <a:t>Volume de Vendas por Dia Semana</a:t>
            </a:r>
            <a:endParaRPr lang="pt-BR" sz="1400" dirty="0">
              <a:solidFill>
                <a:srgbClr val="451C06"/>
              </a:solidFill>
              <a:latin typeface="Bahnschrift" panose="020B0502040204020203" pitchFamily="34" charset="0"/>
            </a:endParaRPr>
          </a:p>
        </p:txBody>
      </p:sp>
      <p:pic>
        <p:nvPicPr>
          <p:cNvPr id="24" name="Imagem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125" y="1775880"/>
            <a:ext cx="558801" cy="558801"/>
          </a:xfrm>
          <a:prstGeom prst="rect">
            <a:avLst/>
          </a:prstGeom>
        </p:spPr>
      </p:pic>
      <p:pic>
        <p:nvPicPr>
          <p:cNvPr id="25" name="Imagem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983" y="2770711"/>
            <a:ext cx="540943" cy="540943"/>
          </a:xfrm>
          <a:prstGeom prst="rect">
            <a:avLst/>
          </a:prstGeom>
        </p:spPr>
      </p:pic>
      <p:sp>
        <p:nvSpPr>
          <p:cNvPr id="26" name="CaixaDeTexto 25"/>
          <p:cNvSpPr txBox="1"/>
          <p:nvPr/>
        </p:nvSpPr>
        <p:spPr>
          <a:xfrm>
            <a:off x="454986" y="69992"/>
            <a:ext cx="13002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err="1" smtClean="0">
                <a:latin typeface="Broadway" panose="04040905080B02020502" pitchFamily="82" charset="0"/>
              </a:rPr>
              <a:t>Maven</a:t>
            </a:r>
            <a:endParaRPr lang="pt-BR" sz="2400" dirty="0">
              <a:latin typeface="Broadway" panose="04040905080B02020502" pitchFamily="82" charset="0"/>
            </a:endParaRPr>
          </a:p>
        </p:txBody>
      </p:sp>
      <p:pic>
        <p:nvPicPr>
          <p:cNvPr id="27" name="Imagem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85" y="139746"/>
            <a:ext cx="444597" cy="444597"/>
          </a:xfrm>
          <a:prstGeom prst="rect">
            <a:avLst/>
          </a:prstGeom>
        </p:spPr>
      </p:pic>
      <p:sp>
        <p:nvSpPr>
          <p:cNvPr id="28" name="Retângulo 27"/>
          <p:cNvSpPr/>
          <p:nvPr/>
        </p:nvSpPr>
        <p:spPr>
          <a:xfrm>
            <a:off x="459247" y="336548"/>
            <a:ext cx="1235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err="1" smtClean="0">
                <a:latin typeface="Broadway" panose="04040905080B02020502" pitchFamily="82" charset="0"/>
              </a:rPr>
              <a:t>Roasters</a:t>
            </a:r>
            <a:endParaRPr lang="pt-BR" dirty="0">
              <a:latin typeface="Broadway" panose="04040905080B02020502" pitchFamily="82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376" y="754498"/>
            <a:ext cx="554092" cy="554092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6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192" y="1484188"/>
            <a:ext cx="508011" cy="50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171575" y="542926"/>
            <a:ext cx="2762250" cy="800100"/>
          </a:xfrm>
          <a:prstGeom prst="rect">
            <a:avLst/>
          </a:prstGeom>
          <a:solidFill>
            <a:srgbClr val="AD73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1171575" y="1609725"/>
            <a:ext cx="2762250" cy="1019175"/>
          </a:xfrm>
          <a:prstGeom prst="rect">
            <a:avLst/>
          </a:prstGeom>
          <a:solidFill>
            <a:srgbClr val="451C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1171575" y="2895599"/>
            <a:ext cx="2762250" cy="1019175"/>
          </a:xfrm>
          <a:prstGeom prst="rect">
            <a:avLst/>
          </a:prstGeom>
          <a:solidFill>
            <a:srgbClr val="F5EB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1171575" y="4181473"/>
            <a:ext cx="2762250" cy="1019175"/>
          </a:xfrm>
          <a:prstGeom prst="rect">
            <a:avLst/>
          </a:prstGeom>
          <a:solidFill>
            <a:srgbClr val="D123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1171575" y="5467347"/>
            <a:ext cx="2762250" cy="1019175"/>
          </a:xfrm>
          <a:prstGeom prst="rect">
            <a:avLst/>
          </a:prstGeom>
          <a:solidFill>
            <a:srgbClr val="DCD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49460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38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Arial</vt:lpstr>
      <vt:lpstr>Bahnschrift</vt:lpstr>
      <vt:lpstr>Broadway</vt:lpstr>
      <vt:lpstr>Calibri</vt:lpstr>
      <vt:lpstr>Calibri Light</vt:lpstr>
      <vt:lpstr>Elephant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</dc:creator>
  <cp:lastModifiedBy>Rafael</cp:lastModifiedBy>
  <cp:revision>25</cp:revision>
  <dcterms:created xsi:type="dcterms:W3CDTF">2025-10-29T17:53:03Z</dcterms:created>
  <dcterms:modified xsi:type="dcterms:W3CDTF">2025-11-12T19:04:46Z</dcterms:modified>
</cp:coreProperties>
</file>